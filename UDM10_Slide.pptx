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7204F"/>
          </a:solidFill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UDM_10</a:t>
            </a:r>
            <a:endParaRPr lang="en-US" sz="54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68680" y="28803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Upload nhiều file — Client / Server qua TCP</a:t>
            </a:r>
            <a:endParaRPr lang="en-US" sz="22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4709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Bài tập lớn môn Lập trình mạng</a:t>
            </a:r>
            <a:endParaRPr lang="en-US" sz="15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51663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Nhóm thực hiện: </a:t>
            </a:r>
            <a:r>
              <a:rPr lang="vi-VN" altLang="en-US" sz="1300" dirty="0">
                <a:solidFill>
                  <a:srgbClr val="9FB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UDM10_N14</a:t>
            </a:r>
            <a:r>
              <a:rPr lang="en-US" sz="1300" dirty="0">
                <a:solidFill>
                  <a:srgbClr val="9FB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   |      GVHD: </a:t>
            </a:r>
            <a:r>
              <a:rPr lang="vi-VN" altLang="en-US" sz="1300" dirty="0">
                <a:solidFill>
                  <a:srgbClr val="9FB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Mai Ngọc Châu</a:t>
            </a:r>
            <a:endParaRPr lang="vi-VN" altLang="en-US" sz="1300" dirty="0">
              <a:solidFill>
                <a:srgbClr val="9FB3E8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3" grpId="1"/>
      <p:bldP spid="4" grpId="1"/>
      <p:bldP spid="5" grpId="1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Mục tiêu &amp; Phạm vi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4F7FE"/>
          </a:solidFill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MỤC TIÊU</a:t>
            </a:r>
            <a:endParaRPr lang="en-US" sz="16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Kéo-thả hoặc chọn nhiều file để upload cùng lúc</a:t>
            </a: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Mỗi file có trạng thái, tiến trình, tốc độ riêng</a:t>
            </a: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Giới hạn số file upload đồng thời (hàng đợi)</a:t>
            </a: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Lỗi 1 file không ảnh hưởng các file khác</a:t>
            </a: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Xử lý file trùng tên, dữ liệu không hợp lệ, mất kết nối</a:t>
            </a: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PHẠM VI</a:t>
            </a:r>
            <a:endParaRPr lang="en-US" sz="16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E3A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Đã làm:</a:t>
            </a:r>
            <a:endParaRPr lang="en-US" sz="1400" b="1" dirty="0">
              <a:solidFill>
                <a:srgbClr val="8FE3A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24231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Toàn bộ chức năng bắt buộc của đề tài UDM_10 nêu trên</a:t>
            </a:r>
            <a:endParaRPr lang="en-US" sz="14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46520" y="3429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7B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Không làm:</a:t>
            </a:r>
            <a:endParaRPr lang="en-US" sz="1400" b="1" dirty="0">
              <a:solidFill>
                <a:srgbClr val="F5B7B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46520" y="379476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Pause / Resume khi upload (thuộc phạm vi đề UDM_12, không trùng lặp)</a:t>
            </a:r>
            <a:endParaRPr lang="en-US" sz="14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5" grpId="0"/>
      <p:bldP spid="4" grpId="1"/>
      <p:bldP spid="5" grpId="1"/>
      <p:bldP spid="7" grpId="0"/>
      <p:bldP spid="8" grpId="0"/>
      <p:bldP spid="9" grpId="0"/>
      <p:bldP spid="10" grpId="0"/>
      <p:bldP spid="11" grpId="0"/>
      <p:bldP spid="7" grpId="1"/>
      <p:bldP spid="8" grpId="1"/>
      <p:bldP spid="9" grpId="1"/>
      <p:bldP spid="10" grpId="1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Kiến trúc hệ thống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Mô hình Client – Server qua giao thức TCP, mỗi lần upload 1 file dùng 1 kết nối riêng</a:t>
            </a:r>
            <a:endParaRPr lang="en-US" sz="1400" i="1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CLIENT</a:t>
            </a:r>
            <a:endParaRPr lang="en-US" sz="18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Kéo-thả file, gửi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qua socket TCP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86200" y="2606040"/>
            <a:ext cx="1463040" cy="457200"/>
          </a:xfrm>
          <a:prstGeom prst="rightArrow">
            <a:avLst/>
          </a:prstGeom>
          <a:solidFill>
            <a:srgbClr val="1E2761"/>
          </a:solidFill>
        </p:spPr>
      </p:sp>
      <p:sp>
        <p:nvSpPr>
          <p:cNvPr id="8" name="Text 6"/>
          <p:cNvSpPr txBox="1"/>
          <p:nvPr/>
        </p:nvSpPr>
        <p:spPr>
          <a:xfrm>
            <a:off x="3749040" y="20574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Header + dữ liệu file</a:t>
            </a:r>
            <a:endParaRPr lang="en-US" sz="1000" i="1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77840" y="210312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</p:spPr>
      </p:sp>
      <p:sp>
        <p:nvSpPr>
          <p:cNvPr id="10" name="Text 8"/>
          <p:cNvSpPr txBox="1"/>
          <p:nvPr/>
        </p:nvSpPr>
        <p:spPr>
          <a:xfrm>
            <a:off x="5577840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SERVER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577840" y="27432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Nhận file, ghi vào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.part rồi đổi tên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61120" y="21031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961120" y="219456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Nhiều Client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kết nối đồng thời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(bất đồng bộ, không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cần đa luồng)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</p:spPr>
      </p:sp>
      <p:sp>
        <p:nvSpPr>
          <p:cNvPr id="15" name="Text 13"/>
          <p:cNvSpPr txBox="1"/>
          <p:nvPr/>
        </p:nvSpPr>
        <p:spPr>
          <a:xfrm>
            <a:off x="822960" y="425196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1. Kết nối TCP (timeout 5s)</a:t>
            </a:r>
            <a:endParaRPr lang="en-US" sz="11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71800" y="420624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4F7FE"/>
          </a:solidFill>
        </p:spPr>
      </p:sp>
      <p:sp>
        <p:nvSpPr>
          <p:cNvPr id="17" name="Text 15"/>
          <p:cNvSpPr txBox="1"/>
          <p:nvPr/>
        </p:nvSpPr>
        <p:spPr>
          <a:xfrm>
            <a:off x="3063240" y="425196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2. Gửi header ULD1|tên|kích thước</a:t>
            </a:r>
            <a:endParaRPr lang="en-US" sz="11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12080" y="420624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</p:spPr>
      </p:sp>
      <p:sp>
        <p:nvSpPr>
          <p:cNvPr id="19" name="Text 17"/>
          <p:cNvSpPr txBox="1"/>
          <p:nvPr/>
        </p:nvSpPr>
        <p:spPr>
          <a:xfrm>
            <a:off x="5303520" y="425196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3. Gửi dữ liệu từng phần 64KB</a:t>
            </a:r>
            <a:endParaRPr lang="en-US" sz="11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52360" y="420624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4F7FE"/>
          </a:solidFill>
        </p:spPr>
      </p:sp>
      <p:sp>
        <p:nvSpPr>
          <p:cNvPr id="21" name="Text 19"/>
          <p:cNvSpPr txBox="1"/>
          <p:nvPr/>
        </p:nvSpPr>
        <p:spPr>
          <a:xfrm>
            <a:off x="7543800" y="425196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4. Server ghi file .part</a:t>
            </a:r>
            <a:endParaRPr lang="en-US" sz="11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92640" y="420624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</p:spPr>
      </p:sp>
      <p:sp>
        <p:nvSpPr>
          <p:cNvPr id="23" name="Text 21"/>
          <p:cNvSpPr txBox="1"/>
          <p:nvPr/>
        </p:nvSpPr>
        <p:spPr>
          <a:xfrm>
            <a:off x="9784080" y="425196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5. Đủ dữ liệu → đổi tên file thật</a:t>
            </a:r>
            <a:endParaRPr lang="en-US" sz="11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3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" grpId="1"/>
      <p:bldP spid="3" grpId="1"/>
      <p:bldP spid="5" grpId="0"/>
      <p:bldP spid="6" grpId="0"/>
      <p:bldP spid="8" grpId="0"/>
      <p:bldP spid="10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5" grpId="1"/>
      <p:bldP spid="6" grpId="1"/>
      <p:bldP spid="8" grpId="1"/>
      <p:bldP spid="10" grpId="1"/>
      <p:bldP spid="11" grpId="1"/>
      <p:bldP spid="13" grpId="1"/>
      <p:bldP spid="15" grpId="1"/>
      <p:bldP spid="17" grpId="1"/>
      <p:bldP spid="19" grpId="1"/>
      <p:bldP spid="21" grpId="1"/>
      <p:bldP spid="2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Giao thức truyền file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A1A2E"/>
          </a:solidFill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FE3A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ULD1 | &lt;tên_file&gt; | &lt;kích_thước_byte&gt; \n</a:t>
            </a:r>
            <a:endParaRPr lang="en-US" sz="2400" b="1" dirty="0">
              <a:solidFill>
                <a:srgbClr val="8FE3A0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74320" cy="2743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4"/>
          <p:cNvSpPr txBox="1"/>
          <p:nvPr/>
        </p:nvSpPr>
        <p:spPr>
          <a:xfrm>
            <a:off x="1188720" y="2743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ULD1</a:t>
            </a:r>
            <a:endParaRPr lang="en-US" sz="1400" b="1" dirty="0">
              <a:solidFill>
                <a:srgbClr val="1E2761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383280" y="27432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Magic string giúp Server nhận diện đúng giao thức (version 1)</a:t>
            </a:r>
            <a:endParaRPr 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274320" cy="2743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 txBox="1"/>
          <p:nvPr/>
        </p:nvSpPr>
        <p:spPr>
          <a:xfrm>
            <a:off x="1188720" y="33832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tên_file</a:t>
            </a:r>
            <a:endParaRPr lang="en-US" sz="1400" b="1" dirty="0">
              <a:solidFill>
                <a:srgbClr val="1E2761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383280" y="3383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Chỉ lấy tên file, không kèm đường dẫn</a:t>
            </a:r>
            <a:endParaRPr 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274320" cy="2743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2" name="Text 10"/>
          <p:cNvSpPr txBox="1"/>
          <p:nvPr/>
        </p:nvSpPr>
        <p:spPr>
          <a:xfrm>
            <a:off x="1188720" y="40233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kích_thước</a:t>
            </a:r>
            <a:endParaRPr lang="en-US" sz="1400" b="1" dirty="0">
              <a:solidFill>
                <a:srgbClr val="1E2761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383280" y="40233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Số byte của file, dùng để Server biết khi nào nhận đủ</a:t>
            </a:r>
            <a:endParaRPr 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CEFEF"/>
          </a:solidFill>
        </p:spPr>
      </p:sp>
      <p:sp>
        <p:nvSpPr>
          <p:cNvPr id="15" name="Text 13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039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Nếu header sai định dạng, kích thước không hợp lệ hoặc tên file rỗng, Server phản hồi "ERROR|&lt;lý do&gt;" rồi ngắt kết nối — không xử lý dữ liệu không hợp lệ.</a:t>
            </a:r>
            <a:endParaRPr lang="en-US" sz="1400" i="1" dirty="0">
              <a:solidFill>
                <a:srgbClr val="C039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4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" grpId="0"/>
      <p:bldP spid="7" grpId="0"/>
      <p:bldP spid="9" grpId="0"/>
      <p:bldP spid="10" grpId="0"/>
      <p:bldP spid="12" grpId="0"/>
      <p:bldP spid="13" grpId="0"/>
      <p:bldP spid="6" grpId="1"/>
      <p:bldP spid="7" grpId="1"/>
      <p:bldP spid="9" grpId="1"/>
      <p:bldP spid="10" grpId="1"/>
      <p:bldP spid="12" grpId="1"/>
      <p:bldP spid="13" grpId="1"/>
      <p:bldP spid="15" grpId="0"/>
      <p:bldP spid="1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Giao diện ứng dụng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pic>
        <p:nvPicPr>
          <p:cNvPr id="3" name="Image 0" descr="/home/claude/pptx_work/client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6812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52806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Client — kéo-thả, hàng đợi, tiến trình/tốc độ riêng từng file</a:t>
            </a:r>
            <a:endParaRPr lang="en-US" sz="1300" i="1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5" name="Image 1" descr="/home/claude/pptx_work/serv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0160"/>
            <a:ext cx="5394960" cy="3884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5255971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Server — cấu hình Port/thư mục lưu, log sự kiện kèm thời gian</a:t>
            </a:r>
            <a:endParaRPr lang="en-US" sz="1300" i="1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5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Xử lý lỗi &amp; Timeout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E"/>
          </a:solidFill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Timeout kết nối</a:t>
            </a:r>
            <a:endParaRPr lang="en-US" sz="1500" b="1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Client huỷ sau 5 giây nếu không kết nối được — không chờ vô hạn</a:t>
            </a:r>
            <a:endParaRPr lang="en-US" sz="12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E"/>
          </a:solidFill>
        </p:spPr>
      </p:sp>
      <p:sp>
        <p:nvSpPr>
          <p:cNvPr id="8" name="Shape 6"/>
          <p:cNvSpPr/>
          <p:nvPr/>
        </p:nvSpPr>
        <p:spPr>
          <a:xfrm>
            <a:off x="452628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</p:spPr>
      </p:sp>
      <p:sp>
        <p:nvSpPr>
          <p:cNvPr id="9" name="Text 7"/>
          <p:cNvSpPr txBox="1"/>
          <p:nvPr/>
        </p:nvSpPr>
        <p:spPr>
          <a:xfrm>
            <a:off x="4526280" y="2194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Timeout header</a:t>
            </a:r>
            <a:endParaRPr lang="en-US" sz="1500" b="1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26280" y="26060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Server ngắt sau 10 giây nếu Client không gửi header</a:t>
            </a:r>
            <a:endParaRPr lang="en-US" sz="12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E"/>
          </a:solidFill>
        </p:spPr>
      </p:sp>
      <p:sp>
        <p:nvSpPr>
          <p:cNvPr id="12" name="Shape 10"/>
          <p:cNvSpPr/>
          <p:nvPr/>
        </p:nvSpPr>
        <p:spPr>
          <a:xfrm>
            <a:off x="827532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3" name="Text 11"/>
          <p:cNvSpPr txBox="1"/>
          <p:nvPr/>
        </p:nvSpPr>
        <p:spPr>
          <a:xfrm>
            <a:off x="8275320" y="2194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File tạm .part</a:t>
            </a:r>
            <a:endParaRPr lang="en-US" sz="1500" b="1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75320" y="26060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Dữ liệu chưa truyền xong không bao giờ bị công nhận là hoàn chỉnh</a:t>
            </a:r>
            <a:endParaRPr lang="en-US" sz="12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E"/>
          </a:solidFill>
        </p:spPr>
      </p:sp>
      <p:sp>
        <p:nvSpPr>
          <p:cNvPr id="16" name="Shape 14"/>
          <p:cNvSpPr/>
          <p:nvPr/>
        </p:nvSpPr>
        <p:spPr>
          <a:xfrm>
            <a:off x="77724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Cô lập lỗi</a:t>
            </a:r>
            <a:endParaRPr lang="en-US" sz="1500" b="1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Lỗi 1 file/1 kết nối không ảnh hưởng các file khác đang chạy</a:t>
            </a:r>
            <a:endParaRPr lang="en-US" sz="12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E"/>
          </a:solidFill>
        </p:spPr>
      </p:sp>
      <p:sp>
        <p:nvSpPr>
          <p:cNvPr id="20" name="Shape 18"/>
          <p:cNvSpPr/>
          <p:nvPr/>
        </p:nvSpPr>
        <p:spPr>
          <a:xfrm>
            <a:off x="452628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21" name="Text 19"/>
          <p:cNvSpPr txBox="1"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Đóng ứng dụng an toàn</a:t>
            </a:r>
            <a:endParaRPr lang="en-US" sz="1500" b="1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26280" y="48920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Dọn dẹp toàn bộ kết nối trước khi thoát, tránh crash khi tắt đột ngột</a:t>
            </a:r>
            <a:endParaRPr lang="en-US" sz="12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7FE"/>
          </a:solidFill>
        </p:spPr>
      </p:sp>
      <p:sp>
        <p:nvSpPr>
          <p:cNvPr id="24" name="Shape 22"/>
          <p:cNvSpPr/>
          <p:nvPr/>
        </p:nvSpPr>
        <p:spPr>
          <a:xfrm>
            <a:off x="827532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25" name="Text 23"/>
          <p:cNvSpPr txBox="1"/>
          <p:nvPr/>
        </p:nvSpPr>
        <p:spPr>
          <a:xfrm>
            <a:off x="8275320" y="4480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Validate dữ liệu</a:t>
            </a:r>
            <a:endParaRPr lang="en-US" sz="1500" b="1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275320" y="48920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Server kiểm tra header, phản hồi lỗi rõ ràng nếu không hợp lệ</a:t>
            </a:r>
            <a:endParaRPr lang="en-US" sz="12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6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6" grpId="0"/>
      <p:bldP spid="5" grpId="1"/>
      <p:bldP spid="6" grpId="1"/>
      <p:bldP spid="9" grpId="0"/>
      <p:bldP spid="10" grpId="0"/>
      <p:bldP spid="9" grpId="1"/>
      <p:bldP spid="10" grpId="1"/>
      <p:bldP spid="13" grpId="0"/>
      <p:bldP spid="14" grpId="0"/>
      <p:bldP spid="13" grpId="1"/>
      <p:bldP spid="14" grpId="1"/>
      <p:bldP spid="17" grpId="0"/>
      <p:bldP spid="18" grpId="0"/>
      <p:bldP spid="17" grpId="1"/>
      <p:bldP spid="18" grpId="1"/>
      <p:bldP spid="21" grpId="0"/>
      <p:bldP spid="22" grpId="0"/>
      <p:bldP spid="21" grpId="1"/>
      <p:bldP spid="22" grpId="1"/>
      <p:bldP spid="25" grpId="0"/>
      <p:bldP spid="26" grpId="0"/>
      <p:bldP spid="25" grpId="1"/>
      <p:bldP spid="2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Kết quả kiểm thử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926080" cy="4846320"/>
          </a:xfrm>
          <a:prstGeom prst="roundRect">
            <a:avLst>
              <a:gd name="adj" fmla="val 3125"/>
            </a:avLst>
          </a:prstGeom>
          <a:solidFill>
            <a:srgbClr val="1E2761"/>
          </a:solidFill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10/10</a:t>
            </a:r>
            <a:endParaRPr lang="en-US" sz="6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test case PASSED</a:t>
            </a:r>
            <a:endParaRPr lang="en-US" sz="15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3E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Functional • Dữ liệu không hợp lệ • Mất kết nối • Performance (2 mức tải)</a:t>
            </a:r>
            <a:endParaRPr lang="en-US" sz="1200" i="1" dirty="0">
              <a:solidFill>
                <a:srgbClr val="9FB3E8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49040" y="1371600"/>
            <a:ext cx="7863840" cy="621792"/>
          </a:xfrm>
          <a:prstGeom prst="rect">
            <a:avLst/>
          </a:prstGeom>
          <a:solidFill>
            <a:srgbClr val="F4F7FE"/>
          </a:solidFill>
        </p:spPr>
      </p:sp>
      <p:sp>
        <p:nvSpPr>
          <p:cNvPr id="8" name="Text 6"/>
          <p:cNvSpPr txBox="1"/>
          <p:nvPr/>
        </p:nvSpPr>
        <p:spPr>
          <a:xfrm>
            <a:off x="3931920" y="137160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TC_01–04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69280" y="137160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Functional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601200" y="1371600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49040" y="2029968"/>
            <a:ext cx="786384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 txBox="1"/>
          <p:nvPr/>
        </p:nvSpPr>
        <p:spPr>
          <a:xfrm>
            <a:off x="3931920" y="2029968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TC_05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669280" y="2029968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Header sai định dạng (telnet)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601200" y="202996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49040" y="2688336"/>
            <a:ext cx="7863840" cy="621792"/>
          </a:xfrm>
          <a:prstGeom prst="rect">
            <a:avLst/>
          </a:prstGeom>
          <a:solidFill>
            <a:srgbClr val="F4F7FE"/>
          </a:solidFill>
        </p:spPr>
      </p:sp>
      <p:sp>
        <p:nvSpPr>
          <p:cNvPr id="16" name="Text 14"/>
          <p:cNvSpPr txBox="1"/>
          <p:nvPr/>
        </p:nvSpPr>
        <p:spPr>
          <a:xfrm>
            <a:off x="3931920" y="2688336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TC_06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669280" y="2688336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File rỗng (0 byte)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601200" y="2688336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49040" y="3346704"/>
            <a:ext cx="786384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 txBox="1"/>
          <p:nvPr/>
        </p:nvSpPr>
        <p:spPr>
          <a:xfrm>
            <a:off x="3931920" y="334670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TC_07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669280" y="3346704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Tắt Server đột ngột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601200" y="3346704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49040" y="4005072"/>
            <a:ext cx="7863840" cy="621792"/>
          </a:xfrm>
          <a:prstGeom prst="rect">
            <a:avLst/>
          </a:prstGeom>
          <a:solidFill>
            <a:srgbClr val="F4F7FE"/>
          </a:solidFill>
        </p:spPr>
      </p:sp>
      <p:sp>
        <p:nvSpPr>
          <p:cNvPr id="24" name="Text 22"/>
          <p:cNvSpPr txBox="1"/>
          <p:nvPr/>
        </p:nvSpPr>
        <p:spPr>
          <a:xfrm>
            <a:off x="3931920" y="4005072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TC_08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669280" y="4005072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Client timeout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9601200" y="4005072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49040" y="4663440"/>
            <a:ext cx="786384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 txBox="1"/>
          <p:nvPr/>
        </p:nvSpPr>
        <p:spPr>
          <a:xfrm>
            <a:off x="3931920" y="46634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TC_09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669280" y="466344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Tải thấp — 10.33s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9601200" y="4663440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49040" y="5321808"/>
            <a:ext cx="7863840" cy="621792"/>
          </a:xfrm>
          <a:prstGeom prst="rect">
            <a:avLst/>
          </a:prstGeom>
          <a:solidFill>
            <a:srgbClr val="F4F7FE"/>
          </a:solidFill>
        </p:spPr>
      </p:sp>
      <p:sp>
        <p:nvSpPr>
          <p:cNvPr id="32" name="Text 30"/>
          <p:cNvSpPr txBox="1"/>
          <p:nvPr/>
        </p:nvSpPr>
        <p:spPr>
          <a:xfrm>
            <a:off x="3931920" y="5321808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TC_10</a:t>
            </a:r>
            <a:endParaRPr lang="en-US" sz="13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669280" y="5321808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Tải cao — 2 máy LAN thật</a:t>
            </a:r>
            <a:endParaRPr lang="en-US" sz="13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601200" y="532180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✓ PASSED</a:t>
            </a:r>
            <a:endParaRPr lang="en-US" sz="13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7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  <p:bldP spid="28" grpId="0"/>
      <p:bldP spid="29" grpId="0"/>
      <p:bldP spid="30" grpId="0"/>
      <p:bldP spid="32" grpId="0"/>
      <p:bldP spid="33" grpId="0"/>
      <p:bldP spid="34" grpId="0"/>
      <p:bldP spid="4" grpId="1"/>
      <p:bldP spid="5" grpId="1"/>
      <p:bldP spid="6" grpId="1"/>
      <p:bldP spid="8" grpId="1"/>
      <p:bldP spid="9" grpId="1"/>
      <p:bldP spid="10" grpId="1"/>
      <p:bldP spid="12" grpId="1"/>
      <p:bldP spid="13" grpId="1"/>
      <p:bldP spid="14" grpId="1"/>
      <p:bldP spid="16" grpId="1"/>
      <p:bldP spid="17" grpId="1"/>
      <p:bldP spid="18" grpId="1"/>
      <p:bldP spid="20" grpId="1"/>
      <p:bldP spid="21" grpId="1"/>
      <p:bldP spid="22" grpId="1"/>
      <p:bldP spid="24" grpId="1"/>
      <p:bldP spid="25" grpId="1"/>
      <p:bldP spid="26" grpId="1"/>
      <p:bldP spid="28" grpId="1"/>
      <p:bldP spid="29" grpId="1"/>
      <p:bldP spid="30" grpId="1"/>
      <p:bldP spid="32" grpId="1"/>
      <p:bldP spid="33" grpId="1"/>
      <p:bldP spid="3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Một phát hiện đáng chú ý khi test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PHÁT HIỆN</a:t>
            </a:r>
            <a:endParaRPr lang="en-US" sz="1400" b="1" dirty="0">
              <a:solidFill>
                <a:srgbClr val="C039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Khi test TC_07 (tắt Server đột ngột giữa lúc đang truyền file lớn), ứng dụng bị crash với lỗi:</a:t>
            </a:r>
            <a:endParaRPr 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"ASSERT failure — class destructor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may have already run"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Nguyên nhân: một bộ đếm thời gian chờ header vẫn hoạt động khi đối tượng Server bắt đầu bị huỷ.</a:t>
            </a:r>
            <a:endParaRPr 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KHẮC PHỤC</a:t>
            </a:r>
            <a:endParaRPr lang="en-US" sz="14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83680" y="201168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Thêm hàm closeEvent() để chủ động dọn dẹp toàn bộ kết nối và timer đang chờ, trước khi cho phép ứng dụng đóng lại.</a:t>
            </a:r>
            <a:endParaRPr 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583680" y="3566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Kiểm thử lại xác nhận: không còn crash, Client báo lỗi đúng dòng, file dở dang được xoá sạch.</a:t>
            </a:r>
            <a:endParaRPr lang="en-US" sz="1400" b="1" dirty="0">
              <a:solidFill>
                <a:srgbClr val="2E8B5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8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5" grpId="0"/>
      <p:bldP spid="6" grpId="0"/>
      <p:bldP spid="7" grpId="0"/>
      <p:bldP spid="4" grpId="1"/>
      <p:bldP spid="5" grpId="1"/>
      <p:bldP spid="6" grpId="1"/>
      <p:bldP spid="7" grpId="1"/>
      <p:bldP spid="9" grpId="0"/>
      <p:bldP spid="10" grpId="0"/>
      <p:bldP spid="11" grpId="0"/>
      <p:bldP spid="9" grpId="1"/>
      <p:bldP spid="10" grpId="1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Phân công công việc</a:t>
            </a:r>
            <a:endParaRPr lang="en-US" sz="3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Thành viên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0" y="1463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Công việc phụ trách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685800"/>
          </a:xfrm>
          <a:prstGeom prst="rect">
            <a:avLst/>
          </a:prstGeom>
          <a:solidFill>
            <a:srgbClr val="F4F7FE"/>
          </a:solidFill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Nguyễn Dương Gia </a:t>
            </a: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Khanh</a:t>
            </a:r>
            <a:endParaRPr lang="vi-VN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114800" y="20116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</a:t>
            </a:r>
            <a:r>
              <a:rPr lang="en-US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ode MainWindow.cpp (Client), main (Client) + word + powerpoint + readme + testcase + excel</a:t>
            </a:r>
            <a:endParaRPr lang="en-US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Nguyễn Hữu Quốc </a:t>
            </a: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Huy</a:t>
            </a:r>
            <a:endParaRPr lang="vi-VN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114800" y="26974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</a:t>
            </a:r>
            <a:r>
              <a:rPr lang="en-US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ode MainWindow.h (Server), ProtocolCommon.h (Shared)</a:t>
            </a:r>
            <a:endParaRPr lang="en-US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685800"/>
          </a:xfrm>
          <a:prstGeom prst="rect">
            <a:avLst/>
          </a:prstGeom>
          <a:solidFill>
            <a:srgbClr val="F4F7FE"/>
          </a:solidFill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Huỳnh Xuân </a:t>
            </a: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Cảnh</a:t>
            </a:r>
            <a:endParaRPr lang="vi-VN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114800" y="33832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</a:t>
            </a:r>
            <a:r>
              <a:rPr lang="en-US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ode MainWindow.cpp (Server), main (Server)</a:t>
            </a:r>
            <a:endParaRPr lang="en-US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 txBox="1"/>
          <p:nvPr/>
        </p:nvSpPr>
        <p:spPr>
          <a:xfrm>
            <a:off x="832485" y="40690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Nguyễn Quốc </a:t>
            </a: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Thành</a:t>
            </a:r>
            <a:endParaRPr lang="vi-VN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114800" y="40690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</a:t>
            </a:r>
            <a:r>
              <a:rPr lang="en-US" altLang="en-US" sz="1400" dirty="0">
                <a:solidFill>
                  <a:srgbClr val="1A1A2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ode MainWindow.h (Client), Client.pro, Server.pro</a:t>
            </a:r>
            <a:endParaRPr lang="en-US" altLang="en-US" sz="1400" dirty="0">
              <a:solidFill>
                <a:srgbClr val="1A1A2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9</a:t>
            </a:r>
            <a:endParaRPr lang="en-US" sz="1100" dirty="0">
              <a:solidFill>
                <a:srgbClr val="5A5A6E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5" grpId="0"/>
      <p:bldP spid="7" grpId="0"/>
      <p:bldP spid="8" grpId="0"/>
      <p:bldP spid="10" grpId="0"/>
      <p:bldP spid="11" grpId="0"/>
      <p:bldP spid="13" grpId="0"/>
      <p:bldP spid="14" grpId="0"/>
      <p:bldP spid="16" grpId="0"/>
      <p:bldP spid="17" grpId="0"/>
      <p:bldP spid="4" grpId="1"/>
      <p:bldP spid="5" grpId="1"/>
      <p:bldP spid="7" grpId="1"/>
      <p:bldP spid="8" grpId="1"/>
      <p:bldP spid="10" grpId="1"/>
      <p:bldP spid="11" grpId="1"/>
      <p:bldP spid="13" grpId="1"/>
      <p:bldP spid="14" grpId="1"/>
      <p:bldP spid="16" grpId="1"/>
      <p:bldP spid="1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Hạn chế &amp; Kết luận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7B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HẠN CHẾ</a:t>
            </a:r>
            <a:endParaRPr lang="en-US" sz="1600" b="1" dirty="0">
              <a:solidFill>
                <a:srgbClr val="F5B7B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5029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Chưa hỗ trợ Pause/Resume (ngoài phạm vi đề tài)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Progress bar hiển thị 0% với file 0 byte dù đã hoàn tất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Chưa mã hoá dữ liệu truyền qua mạng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A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KẾT LUẬN</a:t>
            </a:r>
            <a:endParaRPr lang="en-US" sz="1600" b="1" dirty="0">
              <a:solidFill>
                <a:srgbClr val="8FE3A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309360" y="2011680"/>
            <a:ext cx="521208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Hoàn thành đầy đủ chức năng bắt buộc của đề tài UDM_10, xử lý tốt các tình huống lỗi/mất kết nối, đã kiểm thử kỹ càng với 10/10 test case PASSED.</a:t>
            </a:r>
            <a:endParaRPr lang="en-US" sz="140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Cảm ơn thầy/cô đã theo dõi!</a:t>
            </a:r>
            <a:endParaRPr lang="en-US" sz="2000" i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3499</Words>
  <Application>WPS Presentation</Application>
  <PresentationFormat>On-screen Show (16:9)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Khanh Nguyễn Dương Gia</cp:lastModifiedBy>
  <cp:revision>2</cp:revision>
  <dcterms:created xsi:type="dcterms:W3CDTF">2026-09-26T15:02:00Z</dcterms:created>
  <dcterms:modified xsi:type="dcterms:W3CDTF">2026-09-26T15:36:54Z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AE052B6BFEA8489B8397D7574EB5F65B_13</vt:lpwstr>
  </property>
</Properties>
</file>